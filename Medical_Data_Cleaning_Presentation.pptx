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6" r:id="rId4"/>
    <p:sldId id="263" r:id="rId5"/>
    <p:sldId id="267" r:id="rId6"/>
    <p:sldId id="268" r:id="rId7"/>
    <p:sldId id="265" r:id="rId8"/>
    <p:sldId id="257" r:id="rId9"/>
    <p:sldId id="273" r:id="rId10"/>
    <p:sldId id="274" r:id="rId11"/>
    <p:sldId id="270" r:id="rId12"/>
    <p:sldId id="269" r:id="rId13"/>
    <p:sldId id="271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1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73D3B6-4C90-4521-8D68-E3898274DF00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259491-2404-4623-BF5A-FA8E5ACA9504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 b="1" dirty="0"/>
            <a:t>Power Query: </a:t>
          </a:r>
          <a:r>
            <a:rPr lang="en-US" sz="1400" dirty="0"/>
            <a:t>Used to clean and prepare the data by removing or imputing missing values.</a:t>
          </a:r>
        </a:p>
        <a:p>
          <a:pPr>
            <a:lnSpc>
              <a:spcPct val="100000"/>
            </a:lnSpc>
            <a:defRPr b="1"/>
          </a:pPr>
          <a:r>
            <a:rPr lang="en-US" sz="1400" dirty="0"/>
            <a:t>Creating new features such as "Length of Stay" for deeper analysis.</a:t>
          </a:r>
        </a:p>
      </dgm:t>
    </dgm:pt>
    <dgm:pt modelId="{E89B1CB0-1AC3-41E5-A975-13119704ED3E}" type="parTrans" cxnId="{C7A91AA0-173F-4D74-AEF6-5E01344CD1AB}">
      <dgm:prSet/>
      <dgm:spPr/>
      <dgm:t>
        <a:bodyPr/>
        <a:lstStyle/>
        <a:p>
          <a:endParaRPr lang="en-US"/>
        </a:p>
      </dgm:t>
    </dgm:pt>
    <dgm:pt modelId="{60AA1CC1-3997-49E7-A813-033CEF526DEE}" type="sibTrans" cxnId="{C7A91AA0-173F-4D74-AEF6-5E01344CD1AB}">
      <dgm:prSet/>
      <dgm:spPr/>
      <dgm:t>
        <a:bodyPr/>
        <a:lstStyle/>
        <a:p>
          <a:endParaRPr lang="en-US"/>
        </a:p>
      </dgm:t>
    </dgm:pt>
    <dgm:pt modelId="{8BBB3CCB-B7D3-414F-B0C3-3CB6B018B9A7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3D9AB2AD-7584-4049-9D06-0E30BFD0935A}" type="parTrans" cxnId="{8B1C839D-7762-4AE8-982C-E6C01ED77E92}">
      <dgm:prSet/>
      <dgm:spPr/>
      <dgm:t>
        <a:bodyPr/>
        <a:lstStyle/>
        <a:p>
          <a:endParaRPr lang="en-US"/>
        </a:p>
      </dgm:t>
    </dgm:pt>
    <dgm:pt modelId="{B9FFE28E-EFEB-462D-BD9B-66C117FD301D}" type="sibTrans" cxnId="{8B1C839D-7762-4AE8-982C-E6C01ED77E92}">
      <dgm:prSet/>
      <dgm:spPr/>
      <dgm:t>
        <a:bodyPr/>
        <a:lstStyle/>
        <a:p>
          <a:endParaRPr lang="en-US"/>
        </a:p>
      </dgm:t>
    </dgm:pt>
    <dgm:pt modelId="{1285D80E-4B05-4D6F-B08B-46BDDD8A3EB6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 b="1" dirty="0"/>
            <a:t>Power Pivot</a:t>
          </a:r>
          <a:r>
            <a:rPr lang="en-US" sz="1800" dirty="0"/>
            <a:t>: </a:t>
          </a:r>
          <a:r>
            <a:rPr lang="en-US" sz="1500" dirty="0"/>
            <a:t>After cleaning, the datasets were connected using Power Pivot, establishing relationships between the files to create a unified dataset for analysis and dashboards.</a:t>
          </a:r>
        </a:p>
      </dgm:t>
    </dgm:pt>
    <dgm:pt modelId="{C8568EF0-15E2-4E7E-8958-8C684D14DB7E}" type="parTrans" cxnId="{56AAA6D7-B9DE-4A22-85E8-672347A90766}">
      <dgm:prSet/>
      <dgm:spPr/>
      <dgm:t>
        <a:bodyPr/>
        <a:lstStyle/>
        <a:p>
          <a:endParaRPr lang="en-US"/>
        </a:p>
      </dgm:t>
    </dgm:pt>
    <dgm:pt modelId="{64D53F61-1FE4-4206-B132-CB3432D6B2F7}" type="sibTrans" cxnId="{56AAA6D7-B9DE-4A22-85E8-672347A90766}">
      <dgm:prSet/>
      <dgm:spPr/>
      <dgm:t>
        <a:bodyPr/>
        <a:lstStyle/>
        <a:p>
          <a:endParaRPr lang="en-US"/>
        </a:p>
      </dgm:t>
    </dgm:pt>
    <dgm:pt modelId="{16FBC6F3-A4EB-48B1-A280-B9BB4B474727}" type="pres">
      <dgm:prSet presAssocID="{2573D3B6-4C90-4521-8D68-E3898274DF00}" presName="root" presStyleCnt="0">
        <dgm:presLayoutVars>
          <dgm:dir/>
          <dgm:resizeHandles val="exact"/>
        </dgm:presLayoutVars>
      </dgm:prSet>
      <dgm:spPr/>
    </dgm:pt>
    <dgm:pt modelId="{EE4E266A-6BD7-4DE9-AE20-8C3B9646D934}" type="pres">
      <dgm:prSet presAssocID="{EE259491-2404-4623-BF5A-FA8E5ACA9504}" presName="compNode" presStyleCnt="0"/>
      <dgm:spPr/>
    </dgm:pt>
    <dgm:pt modelId="{FAF95DB1-ED6D-43AB-98BC-89A5D7FEF4D4}" type="pres">
      <dgm:prSet presAssocID="{EE259491-2404-4623-BF5A-FA8E5ACA950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D916D30-BA80-4347-905B-2889619BB0F5}" type="pres">
      <dgm:prSet presAssocID="{EE259491-2404-4623-BF5A-FA8E5ACA9504}" presName="iconSpace" presStyleCnt="0"/>
      <dgm:spPr/>
    </dgm:pt>
    <dgm:pt modelId="{F64D5DC6-1074-4384-B770-7363885B8F70}" type="pres">
      <dgm:prSet presAssocID="{EE259491-2404-4623-BF5A-FA8E5ACA9504}" presName="parTx" presStyleLbl="revTx" presStyleIdx="0" presStyleCnt="4">
        <dgm:presLayoutVars>
          <dgm:chMax val="0"/>
          <dgm:chPref val="0"/>
        </dgm:presLayoutVars>
      </dgm:prSet>
      <dgm:spPr/>
    </dgm:pt>
    <dgm:pt modelId="{F1B684AE-A24D-43FA-82FF-08ABF31C1A1D}" type="pres">
      <dgm:prSet presAssocID="{EE259491-2404-4623-BF5A-FA8E5ACA9504}" presName="txSpace" presStyleCnt="0"/>
      <dgm:spPr/>
    </dgm:pt>
    <dgm:pt modelId="{E21D5B5B-2910-4921-AC32-F5A4DEB96B0F}" type="pres">
      <dgm:prSet presAssocID="{EE259491-2404-4623-BF5A-FA8E5ACA9504}" presName="desTx" presStyleLbl="revTx" presStyleIdx="1" presStyleCnt="4" custLinFactNeighborX="3230" custLinFactNeighborY="-50018">
        <dgm:presLayoutVars/>
      </dgm:prSet>
      <dgm:spPr/>
    </dgm:pt>
    <dgm:pt modelId="{3FC22888-7340-43D1-A60B-EDF142CC9550}" type="pres">
      <dgm:prSet presAssocID="{60AA1CC1-3997-49E7-A813-033CEF526DEE}" presName="sibTrans" presStyleCnt="0"/>
      <dgm:spPr/>
    </dgm:pt>
    <dgm:pt modelId="{7140F147-8DCF-4655-B2E4-D210964A5363}" type="pres">
      <dgm:prSet presAssocID="{1285D80E-4B05-4D6F-B08B-46BDDD8A3EB6}" presName="compNode" presStyleCnt="0"/>
      <dgm:spPr/>
    </dgm:pt>
    <dgm:pt modelId="{2A06E088-D701-485C-B54C-05E58B54C273}" type="pres">
      <dgm:prSet presAssocID="{1285D80E-4B05-4D6F-B08B-46BDDD8A3EB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060905F-C693-4F97-9711-5435832B3D44}" type="pres">
      <dgm:prSet presAssocID="{1285D80E-4B05-4D6F-B08B-46BDDD8A3EB6}" presName="iconSpace" presStyleCnt="0"/>
      <dgm:spPr/>
    </dgm:pt>
    <dgm:pt modelId="{B9C03D26-D592-4A71-B2F7-B1D1C3E324BE}" type="pres">
      <dgm:prSet presAssocID="{1285D80E-4B05-4D6F-B08B-46BDDD8A3EB6}" presName="parTx" presStyleLbl="revTx" presStyleIdx="2" presStyleCnt="4">
        <dgm:presLayoutVars>
          <dgm:chMax val="0"/>
          <dgm:chPref val="0"/>
        </dgm:presLayoutVars>
      </dgm:prSet>
      <dgm:spPr/>
    </dgm:pt>
    <dgm:pt modelId="{03443520-FBD7-4653-A4DD-67B8C09ADB36}" type="pres">
      <dgm:prSet presAssocID="{1285D80E-4B05-4D6F-B08B-46BDDD8A3EB6}" presName="txSpace" presStyleCnt="0"/>
      <dgm:spPr/>
    </dgm:pt>
    <dgm:pt modelId="{AE72A596-F59C-4185-A850-4AE0A9C89ABD}" type="pres">
      <dgm:prSet presAssocID="{1285D80E-4B05-4D6F-B08B-46BDDD8A3EB6}" presName="desTx" presStyleLbl="revTx" presStyleIdx="3" presStyleCnt="4">
        <dgm:presLayoutVars/>
      </dgm:prSet>
      <dgm:spPr/>
    </dgm:pt>
  </dgm:ptLst>
  <dgm:cxnLst>
    <dgm:cxn modelId="{4DB43C26-9D33-4049-921A-076ED1499C41}" type="presOf" srcId="{1285D80E-4B05-4D6F-B08B-46BDDD8A3EB6}" destId="{B9C03D26-D592-4A71-B2F7-B1D1C3E324BE}" srcOrd="0" destOrd="0" presId="urn:microsoft.com/office/officeart/2018/2/layout/IconLabelDescriptionList"/>
    <dgm:cxn modelId="{3718A279-818C-4396-8FA6-30B901A57C12}" type="presOf" srcId="{2573D3B6-4C90-4521-8D68-E3898274DF00}" destId="{16FBC6F3-A4EB-48B1-A280-B9BB4B474727}" srcOrd="0" destOrd="0" presId="urn:microsoft.com/office/officeart/2018/2/layout/IconLabelDescriptionList"/>
    <dgm:cxn modelId="{8B1C839D-7762-4AE8-982C-E6C01ED77E92}" srcId="{EE259491-2404-4623-BF5A-FA8E5ACA9504}" destId="{8BBB3CCB-B7D3-414F-B0C3-3CB6B018B9A7}" srcOrd="0" destOrd="0" parTransId="{3D9AB2AD-7584-4049-9D06-0E30BFD0935A}" sibTransId="{B9FFE28E-EFEB-462D-BD9B-66C117FD301D}"/>
    <dgm:cxn modelId="{C7A91AA0-173F-4D74-AEF6-5E01344CD1AB}" srcId="{2573D3B6-4C90-4521-8D68-E3898274DF00}" destId="{EE259491-2404-4623-BF5A-FA8E5ACA9504}" srcOrd="0" destOrd="0" parTransId="{E89B1CB0-1AC3-41E5-A975-13119704ED3E}" sibTransId="{60AA1CC1-3997-49E7-A813-033CEF526DEE}"/>
    <dgm:cxn modelId="{EAA7D6C9-0015-4D5E-9260-7070966832CF}" type="presOf" srcId="{8BBB3CCB-B7D3-414F-B0C3-3CB6B018B9A7}" destId="{E21D5B5B-2910-4921-AC32-F5A4DEB96B0F}" srcOrd="0" destOrd="0" presId="urn:microsoft.com/office/officeart/2018/2/layout/IconLabelDescriptionList"/>
    <dgm:cxn modelId="{8D47F3CC-E885-4FAA-8309-9851BCCD1F6D}" type="presOf" srcId="{EE259491-2404-4623-BF5A-FA8E5ACA9504}" destId="{F64D5DC6-1074-4384-B770-7363885B8F70}" srcOrd="0" destOrd="0" presId="urn:microsoft.com/office/officeart/2018/2/layout/IconLabelDescriptionList"/>
    <dgm:cxn modelId="{56AAA6D7-B9DE-4A22-85E8-672347A90766}" srcId="{2573D3B6-4C90-4521-8D68-E3898274DF00}" destId="{1285D80E-4B05-4D6F-B08B-46BDDD8A3EB6}" srcOrd="1" destOrd="0" parTransId="{C8568EF0-15E2-4E7E-8958-8C684D14DB7E}" sibTransId="{64D53F61-1FE4-4206-B132-CB3432D6B2F7}"/>
    <dgm:cxn modelId="{F696AFBF-CCE0-4803-920F-26D944B08199}" type="presParOf" srcId="{16FBC6F3-A4EB-48B1-A280-B9BB4B474727}" destId="{EE4E266A-6BD7-4DE9-AE20-8C3B9646D934}" srcOrd="0" destOrd="0" presId="urn:microsoft.com/office/officeart/2018/2/layout/IconLabelDescriptionList"/>
    <dgm:cxn modelId="{83E2DC61-3D1C-418B-9820-69568A464A24}" type="presParOf" srcId="{EE4E266A-6BD7-4DE9-AE20-8C3B9646D934}" destId="{FAF95DB1-ED6D-43AB-98BC-89A5D7FEF4D4}" srcOrd="0" destOrd="0" presId="urn:microsoft.com/office/officeart/2018/2/layout/IconLabelDescriptionList"/>
    <dgm:cxn modelId="{B6C46680-C0CE-45B7-B752-246543EA8350}" type="presParOf" srcId="{EE4E266A-6BD7-4DE9-AE20-8C3B9646D934}" destId="{5D916D30-BA80-4347-905B-2889619BB0F5}" srcOrd="1" destOrd="0" presId="urn:microsoft.com/office/officeart/2018/2/layout/IconLabelDescriptionList"/>
    <dgm:cxn modelId="{7A2850CC-90C9-4225-AB42-83014B558DEE}" type="presParOf" srcId="{EE4E266A-6BD7-4DE9-AE20-8C3B9646D934}" destId="{F64D5DC6-1074-4384-B770-7363885B8F70}" srcOrd="2" destOrd="0" presId="urn:microsoft.com/office/officeart/2018/2/layout/IconLabelDescriptionList"/>
    <dgm:cxn modelId="{0398AA2A-C10C-43F4-B17F-858C54805F1F}" type="presParOf" srcId="{EE4E266A-6BD7-4DE9-AE20-8C3B9646D934}" destId="{F1B684AE-A24D-43FA-82FF-08ABF31C1A1D}" srcOrd="3" destOrd="0" presId="urn:microsoft.com/office/officeart/2018/2/layout/IconLabelDescriptionList"/>
    <dgm:cxn modelId="{9A002AA3-17E5-4A7F-AA88-A5BA3876DAEB}" type="presParOf" srcId="{EE4E266A-6BD7-4DE9-AE20-8C3B9646D934}" destId="{E21D5B5B-2910-4921-AC32-F5A4DEB96B0F}" srcOrd="4" destOrd="0" presId="urn:microsoft.com/office/officeart/2018/2/layout/IconLabelDescriptionList"/>
    <dgm:cxn modelId="{17195669-11B5-441A-97A9-C0161172EA35}" type="presParOf" srcId="{16FBC6F3-A4EB-48B1-A280-B9BB4B474727}" destId="{3FC22888-7340-43D1-A60B-EDF142CC9550}" srcOrd="1" destOrd="0" presId="urn:microsoft.com/office/officeart/2018/2/layout/IconLabelDescriptionList"/>
    <dgm:cxn modelId="{597D4449-AF73-4110-A818-3A6C73C7FFC8}" type="presParOf" srcId="{16FBC6F3-A4EB-48B1-A280-B9BB4B474727}" destId="{7140F147-8DCF-4655-B2E4-D210964A5363}" srcOrd="2" destOrd="0" presId="urn:microsoft.com/office/officeart/2018/2/layout/IconLabelDescriptionList"/>
    <dgm:cxn modelId="{5089D3D9-31A0-451F-A7DB-B4C1CBACD5EC}" type="presParOf" srcId="{7140F147-8DCF-4655-B2E4-D210964A5363}" destId="{2A06E088-D701-485C-B54C-05E58B54C273}" srcOrd="0" destOrd="0" presId="urn:microsoft.com/office/officeart/2018/2/layout/IconLabelDescriptionList"/>
    <dgm:cxn modelId="{E52C017E-9E6A-424F-8260-297EB75C5859}" type="presParOf" srcId="{7140F147-8DCF-4655-B2E4-D210964A5363}" destId="{1060905F-C693-4F97-9711-5435832B3D44}" srcOrd="1" destOrd="0" presId="urn:microsoft.com/office/officeart/2018/2/layout/IconLabelDescriptionList"/>
    <dgm:cxn modelId="{24D5DE6A-089D-4B92-B5B6-AFFD88C990C2}" type="presParOf" srcId="{7140F147-8DCF-4655-B2E4-D210964A5363}" destId="{B9C03D26-D592-4A71-B2F7-B1D1C3E324BE}" srcOrd="2" destOrd="0" presId="urn:microsoft.com/office/officeart/2018/2/layout/IconLabelDescriptionList"/>
    <dgm:cxn modelId="{F91C833A-360C-4E9E-B3D4-1DF7F030D195}" type="presParOf" srcId="{7140F147-8DCF-4655-B2E4-D210964A5363}" destId="{03443520-FBD7-4653-A4DD-67B8C09ADB36}" srcOrd="3" destOrd="0" presId="urn:microsoft.com/office/officeart/2018/2/layout/IconLabelDescriptionList"/>
    <dgm:cxn modelId="{33706E93-BA55-479C-9343-E1AEACDCE3A3}" type="presParOf" srcId="{7140F147-8DCF-4655-B2E4-D210964A5363}" destId="{AE72A596-F59C-4185-A850-4AE0A9C89AB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0E71F5-E3F6-4179-804B-705873078CA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06B795-401F-4A62-92B6-EA82924AC474}">
      <dgm:prSet/>
      <dgm:spPr/>
      <dgm:t>
        <a:bodyPr/>
        <a:lstStyle/>
        <a:p>
          <a:r>
            <a:rPr lang="en-US" b="1" dirty="0"/>
            <a:t>Inconsistent Data Entry</a:t>
          </a:r>
          <a:r>
            <a:rPr lang="en-US" dirty="0"/>
            <a:t>:</a:t>
          </a:r>
        </a:p>
      </dgm:t>
    </dgm:pt>
    <dgm:pt modelId="{8261A708-C8B2-4C5F-A611-CFC3017538DD}" type="parTrans" cxnId="{96C15B4D-47AF-4886-B2A2-FD632D46A74C}">
      <dgm:prSet/>
      <dgm:spPr/>
      <dgm:t>
        <a:bodyPr/>
        <a:lstStyle/>
        <a:p>
          <a:endParaRPr lang="en-US"/>
        </a:p>
      </dgm:t>
    </dgm:pt>
    <dgm:pt modelId="{09B75FD2-3D70-48BE-B892-F315F8145856}" type="sibTrans" cxnId="{96C15B4D-47AF-4886-B2A2-FD632D46A74C}">
      <dgm:prSet/>
      <dgm:spPr/>
      <dgm:t>
        <a:bodyPr/>
        <a:lstStyle/>
        <a:p>
          <a:endParaRPr lang="en-US"/>
        </a:p>
      </dgm:t>
    </dgm:pt>
    <dgm:pt modelId="{63405E91-F94B-4760-ABC9-126EF2E1456C}">
      <dgm:prSet custT="1"/>
      <dgm:spPr/>
      <dgm:t>
        <a:bodyPr/>
        <a:lstStyle/>
        <a:p>
          <a:r>
            <a:rPr lang="en-US" sz="1400" b="1"/>
            <a:t>Gender column</a:t>
          </a:r>
          <a:r>
            <a:rPr lang="en-US" sz="1400"/>
            <a:t>: Some entries used inconsistent labels ( 'M', 'Male', 'F', 'female').</a:t>
          </a:r>
          <a:endParaRPr lang="en-US" sz="1400" dirty="0"/>
        </a:p>
      </dgm:t>
    </dgm:pt>
    <dgm:pt modelId="{1B91CE8C-B89C-42C1-9104-842D996775AE}" type="parTrans" cxnId="{EE589874-89BF-4563-ADF6-C006DD62C5F2}">
      <dgm:prSet/>
      <dgm:spPr/>
      <dgm:t>
        <a:bodyPr/>
        <a:lstStyle/>
        <a:p>
          <a:endParaRPr lang="en-US"/>
        </a:p>
      </dgm:t>
    </dgm:pt>
    <dgm:pt modelId="{69D1D6DD-982D-4A52-8FE4-0EB587FA9F61}" type="sibTrans" cxnId="{EE589874-89BF-4563-ADF6-C006DD62C5F2}">
      <dgm:prSet/>
      <dgm:spPr/>
      <dgm:t>
        <a:bodyPr/>
        <a:lstStyle/>
        <a:p>
          <a:endParaRPr lang="en-US"/>
        </a:p>
      </dgm:t>
    </dgm:pt>
    <dgm:pt modelId="{2D28C75B-EA33-4088-95A5-E3EFFE53F853}">
      <dgm:prSet custT="1"/>
      <dgm:spPr/>
      <dgm:t>
        <a:bodyPr/>
        <a:lstStyle/>
        <a:p>
          <a:r>
            <a:rPr lang="en-US" sz="1400" b="1"/>
            <a:t>Test Results</a:t>
          </a:r>
          <a:r>
            <a:rPr lang="en-US" sz="1400"/>
            <a:t>: Variations in text formatting (e.g., 'normal' vs 'Normal', 'positive' vs 'Positive').</a:t>
          </a:r>
          <a:endParaRPr lang="en-US" sz="1400" dirty="0"/>
        </a:p>
      </dgm:t>
    </dgm:pt>
    <dgm:pt modelId="{E15566C3-6B37-4291-A7D2-94E456C2791F}" type="parTrans" cxnId="{BE5BD39D-3D03-4DD4-897D-12E194014497}">
      <dgm:prSet/>
      <dgm:spPr/>
      <dgm:t>
        <a:bodyPr/>
        <a:lstStyle/>
        <a:p>
          <a:endParaRPr lang="en-US"/>
        </a:p>
      </dgm:t>
    </dgm:pt>
    <dgm:pt modelId="{1FB18415-B918-49A8-9F85-E97D2CADDACD}" type="sibTrans" cxnId="{BE5BD39D-3D03-4DD4-897D-12E194014497}">
      <dgm:prSet/>
      <dgm:spPr/>
      <dgm:t>
        <a:bodyPr/>
        <a:lstStyle/>
        <a:p>
          <a:endParaRPr lang="en-US"/>
        </a:p>
      </dgm:t>
    </dgm:pt>
    <dgm:pt modelId="{96719A41-7F9D-4654-B8DB-4EE4B1554AC7}">
      <dgm:prSet/>
      <dgm:spPr/>
      <dgm:t>
        <a:bodyPr/>
        <a:lstStyle/>
        <a:p>
          <a:r>
            <a:rPr lang="en-US" b="1" dirty="0"/>
            <a:t>Missing Values</a:t>
          </a:r>
          <a:r>
            <a:rPr lang="en-US" dirty="0"/>
            <a:t>:</a:t>
          </a:r>
        </a:p>
      </dgm:t>
    </dgm:pt>
    <dgm:pt modelId="{45E63D93-8C8C-4262-A1E7-372E2059F28C}" type="parTrans" cxnId="{FF65937F-859B-4674-A996-3F145281B256}">
      <dgm:prSet/>
      <dgm:spPr/>
      <dgm:t>
        <a:bodyPr/>
        <a:lstStyle/>
        <a:p>
          <a:endParaRPr lang="en-US"/>
        </a:p>
      </dgm:t>
    </dgm:pt>
    <dgm:pt modelId="{7286095D-9C8C-4485-A511-03C747A90232}" type="sibTrans" cxnId="{FF65937F-859B-4674-A996-3F145281B256}">
      <dgm:prSet/>
      <dgm:spPr/>
      <dgm:t>
        <a:bodyPr/>
        <a:lstStyle/>
        <a:p>
          <a:endParaRPr lang="en-US"/>
        </a:p>
      </dgm:t>
    </dgm:pt>
    <dgm:pt modelId="{8447164E-B893-469C-8E3F-355ED691CA69}">
      <dgm:prSet custT="1"/>
      <dgm:spPr/>
      <dgm:t>
        <a:bodyPr/>
        <a:lstStyle/>
        <a:p>
          <a:r>
            <a:rPr lang="en-US" sz="1400" b="1"/>
            <a:t>Doctor ID</a:t>
          </a:r>
          <a:r>
            <a:rPr lang="en-US" sz="1400"/>
            <a:t>: Several records were missing Doctor IDs, making it difficult to analyze data by doctor.</a:t>
          </a:r>
          <a:endParaRPr lang="en-US" sz="1400" dirty="0"/>
        </a:p>
      </dgm:t>
    </dgm:pt>
    <dgm:pt modelId="{00D27CB7-34A6-4C55-ABAB-8F58C95F8ECA}" type="parTrans" cxnId="{C16C5344-8D51-4451-838E-F21575D60808}">
      <dgm:prSet/>
      <dgm:spPr/>
      <dgm:t>
        <a:bodyPr/>
        <a:lstStyle/>
        <a:p>
          <a:endParaRPr lang="en-US"/>
        </a:p>
      </dgm:t>
    </dgm:pt>
    <dgm:pt modelId="{FE8E3C1E-393B-47B4-8398-13B518B7F82D}" type="sibTrans" cxnId="{C16C5344-8D51-4451-838E-F21575D60808}">
      <dgm:prSet/>
      <dgm:spPr/>
      <dgm:t>
        <a:bodyPr/>
        <a:lstStyle/>
        <a:p>
          <a:endParaRPr lang="en-US"/>
        </a:p>
      </dgm:t>
    </dgm:pt>
    <dgm:pt modelId="{76F8B63F-33C7-473D-9295-95E24D3151EC}">
      <dgm:prSet custT="1"/>
      <dgm:spPr/>
      <dgm:t>
        <a:bodyPr/>
        <a:lstStyle/>
        <a:p>
          <a:r>
            <a:rPr lang="en-US" sz="1400" b="1"/>
            <a:t>Medical Conditions</a:t>
          </a:r>
          <a:r>
            <a:rPr lang="en-US" sz="1400"/>
            <a:t>: Some entries lacked medical condition details, leading to incomplete records.</a:t>
          </a:r>
          <a:endParaRPr lang="en-US" sz="1400" dirty="0"/>
        </a:p>
      </dgm:t>
    </dgm:pt>
    <dgm:pt modelId="{C57259B5-C969-45AF-B4CB-19F43A428EF3}" type="parTrans" cxnId="{6713C275-E80E-4CB0-91CE-5E43E08681E3}">
      <dgm:prSet/>
      <dgm:spPr/>
      <dgm:t>
        <a:bodyPr/>
        <a:lstStyle/>
        <a:p>
          <a:endParaRPr lang="en-US"/>
        </a:p>
      </dgm:t>
    </dgm:pt>
    <dgm:pt modelId="{98B345F4-CCAC-4AC9-A64A-8A73D4813B4D}" type="sibTrans" cxnId="{6713C275-E80E-4CB0-91CE-5E43E08681E3}">
      <dgm:prSet/>
      <dgm:spPr/>
      <dgm:t>
        <a:bodyPr/>
        <a:lstStyle/>
        <a:p>
          <a:endParaRPr lang="en-US"/>
        </a:p>
      </dgm:t>
    </dgm:pt>
    <dgm:pt modelId="{D75A1D3F-DC91-4CBE-9CD9-F889D1E51CFE}">
      <dgm:prSet/>
      <dgm:spPr/>
      <dgm:t>
        <a:bodyPr/>
        <a:lstStyle/>
        <a:p>
          <a:r>
            <a:rPr lang="en-US" b="1"/>
            <a:t>Duplicate Records</a:t>
          </a:r>
          <a:r>
            <a:rPr lang="en-US"/>
            <a:t>:</a:t>
          </a:r>
        </a:p>
      </dgm:t>
    </dgm:pt>
    <dgm:pt modelId="{67BC7E3F-D28F-46A2-9F50-6543EFC5EEE8}" type="parTrans" cxnId="{B65EF567-CD7E-4F49-BA95-3529957764A2}">
      <dgm:prSet/>
      <dgm:spPr/>
      <dgm:t>
        <a:bodyPr/>
        <a:lstStyle/>
        <a:p>
          <a:endParaRPr lang="en-US"/>
        </a:p>
      </dgm:t>
    </dgm:pt>
    <dgm:pt modelId="{5D135BAD-D369-4269-AA99-D7E33994DCEC}" type="sibTrans" cxnId="{B65EF567-CD7E-4F49-BA95-3529957764A2}">
      <dgm:prSet/>
      <dgm:spPr/>
      <dgm:t>
        <a:bodyPr/>
        <a:lstStyle/>
        <a:p>
          <a:endParaRPr lang="en-US"/>
        </a:p>
      </dgm:t>
    </dgm:pt>
    <dgm:pt modelId="{3BA0097B-96CA-4FBD-80BE-57DC1EB9DD9A}">
      <dgm:prSet custT="1"/>
      <dgm:spPr/>
      <dgm:t>
        <a:bodyPr/>
        <a:lstStyle/>
        <a:p>
          <a:r>
            <a:rPr lang="en-US" sz="1400"/>
            <a:t>Multiple entries for the same patient (same ID) were found, resulting in potential double-counting of certain cases.</a:t>
          </a:r>
          <a:endParaRPr lang="en-US" sz="1400" dirty="0"/>
        </a:p>
      </dgm:t>
    </dgm:pt>
    <dgm:pt modelId="{04CD9616-73E7-4FE9-9F69-BCF69BF94F82}" type="parTrans" cxnId="{1A5698C4-21D6-4FF0-A47B-3F1EBEAAA3E0}">
      <dgm:prSet/>
      <dgm:spPr/>
      <dgm:t>
        <a:bodyPr/>
        <a:lstStyle/>
        <a:p>
          <a:endParaRPr lang="en-US"/>
        </a:p>
      </dgm:t>
    </dgm:pt>
    <dgm:pt modelId="{E00D6D02-6083-4313-ABB6-1AD37D548638}" type="sibTrans" cxnId="{1A5698C4-21D6-4FF0-A47B-3F1EBEAAA3E0}">
      <dgm:prSet/>
      <dgm:spPr/>
      <dgm:t>
        <a:bodyPr/>
        <a:lstStyle/>
        <a:p>
          <a:endParaRPr lang="en-US"/>
        </a:p>
      </dgm:t>
    </dgm:pt>
    <dgm:pt modelId="{5F443B67-51D8-40BE-A3F2-AF952C27E1FC}">
      <dgm:prSet/>
      <dgm:spPr/>
      <dgm:t>
        <a:bodyPr/>
        <a:lstStyle/>
        <a:p>
          <a:r>
            <a:rPr lang="en-US" b="1" dirty="0"/>
            <a:t>Inconsistent Date Formats</a:t>
          </a:r>
          <a:r>
            <a:rPr lang="en-US" dirty="0"/>
            <a:t>:</a:t>
          </a:r>
        </a:p>
      </dgm:t>
    </dgm:pt>
    <dgm:pt modelId="{8A1E01AE-4810-422B-A143-92F15C74AAC4}" type="parTrans" cxnId="{E7010501-7AFB-4AB5-ABF4-6234B0C4C435}">
      <dgm:prSet/>
      <dgm:spPr/>
      <dgm:t>
        <a:bodyPr/>
        <a:lstStyle/>
        <a:p>
          <a:endParaRPr lang="en-US"/>
        </a:p>
      </dgm:t>
    </dgm:pt>
    <dgm:pt modelId="{4FD29522-3467-4BB5-AE69-9134C3009B10}" type="sibTrans" cxnId="{E7010501-7AFB-4AB5-ABF4-6234B0C4C435}">
      <dgm:prSet/>
      <dgm:spPr/>
      <dgm:t>
        <a:bodyPr/>
        <a:lstStyle/>
        <a:p>
          <a:endParaRPr lang="en-US"/>
        </a:p>
      </dgm:t>
    </dgm:pt>
    <dgm:pt modelId="{45B76CB5-ED75-4494-BC77-FCF81BBD541E}">
      <dgm:prSet custT="1"/>
      <dgm:spPr/>
      <dgm:t>
        <a:bodyPr/>
        <a:lstStyle/>
        <a:p>
          <a:r>
            <a:rPr lang="en-US" sz="1400"/>
            <a:t>Date entries were inconsistent, with some in 'DD-MM-YYYY' format and others in 'MM/DD/YYYY' format, making time-based analysis difficult.</a:t>
          </a:r>
          <a:endParaRPr lang="en-US" sz="1400" dirty="0"/>
        </a:p>
      </dgm:t>
    </dgm:pt>
    <dgm:pt modelId="{CD57FEAD-C662-43AE-9D79-4B7F3DF53BBF}" type="parTrans" cxnId="{1E4FE934-0B3B-493D-9650-E382FC6ACBBB}">
      <dgm:prSet/>
      <dgm:spPr/>
      <dgm:t>
        <a:bodyPr/>
        <a:lstStyle/>
        <a:p>
          <a:endParaRPr lang="en-US"/>
        </a:p>
      </dgm:t>
    </dgm:pt>
    <dgm:pt modelId="{09D24643-7877-4A90-A856-C1DC17229456}" type="sibTrans" cxnId="{1E4FE934-0B3B-493D-9650-E382FC6ACBBB}">
      <dgm:prSet/>
      <dgm:spPr/>
      <dgm:t>
        <a:bodyPr/>
        <a:lstStyle/>
        <a:p>
          <a:endParaRPr lang="en-US"/>
        </a:p>
      </dgm:t>
    </dgm:pt>
    <dgm:pt modelId="{75CC75BD-5062-44CA-B8C7-0CE39CBDF5DD}">
      <dgm:prSet/>
      <dgm:spPr/>
      <dgm:t>
        <a:bodyPr/>
        <a:lstStyle/>
        <a:p>
          <a:r>
            <a:rPr lang="en-US" b="1"/>
            <a:t>Invalid Categorical Values</a:t>
          </a:r>
          <a:r>
            <a:rPr lang="en-US"/>
            <a:t>:</a:t>
          </a:r>
        </a:p>
      </dgm:t>
    </dgm:pt>
    <dgm:pt modelId="{2857581C-B16F-4AD7-A2AC-D4AB2D960F02}" type="parTrans" cxnId="{2C5B69D3-9481-450A-84DC-FA99304315AF}">
      <dgm:prSet/>
      <dgm:spPr/>
      <dgm:t>
        <a:bodyPr/>
        <a:lstStyle/>
        <a:p>
          <a:endParaRPr lang="en-US"/>
        </a:p>
      </dgm:t>
    </dgm:pt>
    <dgm:pt modelId="{9308DBF6-0916-4448-9212-E7334C49F9EE}" type="sibTrans" cxnId="{2C5B69D3-9481-450A-84DC-FA99304315AF}">
      <dgm:prSet/>
      <dgm:spPr/>
      <dgm:t>
        <a:bodyPr/>
        <a:lstStyle/>
        <a:p>
          <a:endParaRPr lang="en-US"/>
        </a:p>
      </dgm:t>
    </dgm:pt>
    <dgm:pt modelId="{40B24EA6-FBBE-4A04-A22A-8BD7D36C113E}">
      <dgm:prSet custT="1"/>
      <dgm:spPr/>
      <dgm:t>
        <a:bodyPr/>
        <a:lstStyle/>
        <a:p>
          <a:r>
            <a:rPr lang="en-US" sz="1400"/>
            <a:t>Certain categorical columns had invalid values, such as a </a:t>
          </a:r>
          <a:r>
            <a:rPr lang="en-US" sz="1400" b="1"/>
            <a:t>Gender</a:t>
          </a:r>
          <a:r>
            <a:rPr lang="en-US" sz="1400"/>
            <a:t> entry marked as 'Unknown' or non-sensical entries like 'N/A' in diagnosis columns.</a:t>
          </a:r>
          <a:endParaRPr lang="en-US" sz="1400" dirty="0"/>
        </a:p>
      </dgm:t>
    </dgm:pt>
    <dgm:pt modelId="{35F93B60-3A17-4083-A9AC-EAEB2F12EED4}" type="parTrans" cxnId="{87E1F851-9569-4670-83D0-D13E096C82C6}">
      <dgm:prSet/>
      <dgm:spPr/>
      <dgm:t>
        <a:bodyPr/>
        <a:lstStyle/>
        <a:p>
          <a:endParaRPr lang="en-US"/>
        </a:p>
      </dgm:t>
    </dgm:pt>
    <dgm:pt modelId="{B6890AB6-D8D9-4ED1-A94A-A5A640D79041}" type="sibTrans" cxnId="{87E1F851-9569-4670-83D0-D13E096C82C6}">
      <dgm:prSet/>
      <dgm:spPr/>
      <dgm:t>
        <a:bodyPr/>
        <a:lstStyle/>
        <a:p>
          <a:endParaRPr lang="en-US"/>
        </a:p>
      </dgm:t>
    </dgm:pt>
    <dgm:pt modelId="{79A49DDC-4A18-49B5-87F4-B5B8C03F93CB}">
      <dgm:prSet/>
      <dgm:spPr/>
      <dgm:t>
        <a:bodyPr/>
        <a:lstStyle/>
        <a:p>
          <a:r>
            <a:rPr lang="en-US" b="1"/>
            <a:t>Mixed Data Types</a:t>
          </a:r>
          <a:r>
            <a:rPr lang="en-US"/>
            <a:t>:</a:t>
          </a:r>
        </a:p>
      </dgm:t>
    </dgm:pt>
    <dgm:pt modelId="{D0AA1E7A-11F5-4D57-80FA-7EF65EBB4A5F}" type="parTrans" cxnId="{72B153F4-C076-4599-B550-F4B582D1B42D}">
      <dgm:prSet/>
      <dgm:spPr/>
      <dgm:t>
        <a:bodyPr/>
        <a:lstStyle/>
        <a:p>
          <a:endParaRPr lang="en-US"/>
        </a:p>
      </dgm:t>
    </dgm:pt>
    <dgm:pt modelId="{EE9AEF13-B29B-4B8C-B497-6556E0B9B912}" type="sibTrans" cxnId="{72B153F4-C076-4599-B550-F4B582D1B42D}">
      <dgm:prSet/>
      <dgm:spPr/>
      <dgm:t>
        <a:bodyPr/>
        <a:lstStyle/>
        <a:p>
          <a:endParaRPr lang="en-US"/>
        </a:p>
      </dgm:t>
    </dgm:pt>
    <dgm:pt modelId="{B75F3A2F-CADA-419A-BFD0-2987EA62ED68}">
      <dgm:prSet custT="1"/>
      <dgm:spPr/>
      <dgm:t>
        <a:bodyPr/>
        <a:lstStyle/>
        <a:p>
          <a:r>
            <a:rPr lang="en-US" sz="1400"/>
            <a:t>Some numerical fields were stored as text (Doctor IDs, Age), causing issues in data analysis and calculations.</a:t>
          </a:r>
          <a:endParaRPr lang="en-US" sz="1400" dirty="0"/>
        </a:p>
      </dgm:t>
    </dgm:pt>
    <dgm:pt modelId="{F0028D17-0CC9-4B0F-82D0-0A80B02002A6}" type="parTrans" cxnId="{8297E554-3B19-4349-9EB6-1E9B49575FB5}">
      <dgm:prSet/>
      <dgm:spPr/>
      <dgm:t>
        <a:bodyPr/>
        <a:lstStyle/>
        <a:p>
          <a:endParaRPr lang="en-US"/>
        </a:p>
      </dgm:t>
    </dgm:pt>
    <dgm:pt modelId="{D9E3F2AF-9E14-45C8-92A4-9FC6B3067805}" type="sibTrans" cxnId="{8297E554-3B19-4349-9EB6-1E9B49575FB5}">
      <dgm:prSet/>
      <dgm:spPr/>
      <dgm:t>
        <a:bodyPr/>
        <a:lstStyle/>
        <a:p>
          <a:endParaRPr lang="en-US"/>
        </a:p>
      </dgm:t>
    </dgm:pt>
    <dgm:pt modelId="{F011A15E-0379-41FC-B916-CE70BCF7BF0F}" type="pres">
      <dgm:prSet presAssocID="{DB0E71F5-E3F6-4179-804B-705873078CAF}" presName="linear" presStyleCnt="0">
        <dgm:presLayoutVars>
          <dgm:animLvl val="lvl"/>
          <dgm:resizeHandles val="exact"/>
        </dgm:presLayoutVars>
      </dgm:prSet>
      <dgm:spPr/>
    </dgm:pt>
    <dgm:pt modelId="{E4CA5964-DF2A-4AF0-8850-F36CC535DA0E}" type="pres">
      <dgm:prSet presAssocID="{7706B795-401F-4A62-92B6-EA82924AC47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5B3670E-C682-46A1-9ED0-974875F05770}" type="pres">
      <dgm:prSet presAssocID="{7706B795-401F-4A62-92B6-EA82924AC474}" presName="childText" presStyleLbl="revTx" presStyleIdx="0" presStyleCnt="6">
        <dgm:presLayoutVars>
          <dgm:bulletEnabled val="1"/>
        </dgm:presLayoutVars>
      </dgm:prSet>
      <dgm:spPr/>
    </dgm:pt>
    <dgm:pt modelId="{218784A4-81BC-41A1-A918-4EC121D95F3A}" type="pres">
      <dgm:prSet presAssocID="{96719A41-7F9D-4654-B8DB-4EE4B1554AC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14FEFCF-73EF-4636-A274-0C37940F12A5}" type="pres">
      <dgm:prSet presAssocID="{96719A41-7F9D-4654-B8DB-4EE4B1554AC7}" presName="childText" presStyleLbl="revTx" presStyleIdx="1" presStyleCnt="6">
        <dgm:presLayoutVars>
          <dgm:bulletEnabled val="1"/>
        </dgm:presLayoutVars>
      </dgm:prSet>
      <dgm:spPr/>
    </dgm:pt>
    <dgm:pt modelId="{14D5F2E2-2191-4E87-AE75-8CAE9826DF3A}" type="pres">
      <dgm:prSet presAssocID="{D75A1D3F-DC91-4CBE-9CD9-F889D1E51CF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BE243F2-F25F-47F6-A11D-73987DEE1FA1}" type="pres">
      <dgm:prSet presAssocID="{D75A1D3F-DC91-4CBE-9CD9-F889D1E51CFE}" presName="childText" presStyleLbl="revTx" presStyleIdx="2" presStyleCnt="6">
        <dgm:presLayoutVars>
          <dgm:bulletEnabled val="1"/>
        </dgm:presLayoutVars>
      </dgm:prSet>
      <dgm:spPr/>
    </dgm:pt>
    <dgm:pt modelId="{6824CA66-0DA9-4363-861F-267A35B1F9A5}" type="pres">
      <dgm:prSet presAssocID="{5F443B67-51D8-40BE-A3F2-AF952C27E1F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6032F57-E0D3-42F9-B62C-FAB261CC4294}" type="pres">
      <dgm:prSet presAssocID="{5F443B67-51D8-40BE-A3F2-AF952C27E1FC}" presName="childText" presStyleLbl="revTx" presStyleIdx="3" presStyleCnt="6">
        <dgm:presLayoutVars>
          <dgm:bulletEnabled val="1"/>
        </dgm:presLayoutVars>
      </dgm:prSet>
      <dgm:spPr/>
    </dgm:pt>
    <dgm:pt modelId="{CA8A909C-6E43-41EF-8010-6E76EEFF5358}" type="pres">
      <dgm:prSet presAssocID="{75CC75BD-5062-44CA-B8C7-0CE39CBDF5D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39D4397-BE92-4624-B59C-6D966864DF50}" type="pres">
      <dgm:prSet presAssocID="{75CC75BD-5062-44CA-B8C7-0CE39CBDF5DD}" presName="childText" presStyleLbl="revTx" presStyleIdx="4" presStyleCnt="6">
        <dgm:presLayoutVars>
          <dgm:bulletEnabled val="1"/>
        </dgm:presLayoutVars>
      </dgm:prSet>
      <dgm:spPr/>
    </dgm:pt>
    <dgm:pt modelId="{7DE75196-F7E5-4012-981C-8C7EF041E2A3}" type="pres">
      <dgm:prSet presAssocID="{79A49DDC-4A18-49B5-87F4-B5B8C03F93CB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E2525BB0-B7C3-4AB5-9451-07382E4CAA20}" type="pres">
      <dgm:prSet presAssocID="{79A49DDC-4A18-49B5-87F4-B5B8C03F93CB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E7010501-7AFB-4AB5-ABF4-6234B0C4C435}" srcId="{DB0E71F5-E3F6-4179-804B-705873078CAF}" destId="{5F443B67-51D8-40BE-A3F2-AF952C27E1FC}" srcOrd="3" destOrd="0" parTransId="{8A1E01AE-4810-422B-A143-92F15C74AAC4}" sibTransId="{4FD29522-3467-4BB5-AE69-9134C3009B10}"/>
    <dgm:cxn modelId="{83E75206-4F59-48D4-8E8B-CF23F78A3352}" type="presOf" srcId="{D75A1D3F-DC91-4CBE-9CD9-F889D1E51CFE}" destId="{14D5F2E2-2191-4E87-AE75-8CAE9826DF3A}" srcOrd="0" destOrd="0" presId="urn:microsoft.com/office/officeart/2005/8/layout/vList2"/>
    <dgm:cxn modelId="{C724270B-ABE6-4029-8D7D-ECC6A643B8FF}" type="presOf" srcId="{79A49DDC-4A18-49B5-87F4-B5B8C03F93CB}" destId="{7DE75196-F7E5-4012-981C-8C7EF041E2A3}" srcOrd="0" destOrd="0" presId="urn:microsoft.com/office/officeart/2005/8/layout/vList2"/>
    <dgm:cxn modelId="{962E2710-8868-4764-B21C-2BAA0ACD007B}" type="presOf" srcId="{76F8B63F-33C7-473D-9295-95E24D3151EC}" destId="{614FEFCF-73EF-4636-A274-0C37940F12A5}" srcOrd="0" destOrd="1" presId="urn:microsoft.com/office/officeart/2005/8/layout/vList2"/>
    <dgm:cxn modelId="{FD812F24-2EF9-4E1A-ACF6-ABD035914734}" type="presOf" srcId="{8447164E-B893-469C-8E3F-355ED691CA69}" destId="{614FEFCF-73EF-4636-A274-0C37940F12A5}" srcOrd="0" destOrd="0" presId="urn:microsoft.com/office/officeart/2005/8/layout/vList2"/>
    <dgm:cxn modelId="{D4CBCC2E-DF8A-482C-AED2-E9D542F4D434}" type="presOf" srcId="{96719A41-7F9D-4654-B8DB-4EE4B1554AC7}" destId="{218784A4-81BC-41A1-A918-4EC121D95F3A}" srcOrd="0" destOrd="0" presId="urn:microsoft.com/office/officeart/2005/8/layout/vList2"/>
    <dgm:cxn modelId="{361FD134-ADF8-4A33-BE84-AE087002852E}" type="presOf" srcId="{DB0E71F5-E3F6-4179-804B-705873078CAF}" destId="{F011A15E-0379-41FC-B916-CE70BCF7BF0F}" srcOrd="0" destOrd="0" presId="urn:microsoft.com/office/officeart/2005/8/layout/vList2"/>
    <dgm:cxn modelId="{1E4FE934-0B3B-493D-9650-E382FC6ACBBB}" srcId="{5F443B67-51D8-40BE-A3F2-AF952C27E1FC}" destId="{45B76CB5-ED75-4494-BC77-FCF81BBD541E}" srcOrd="0" destOrd="0" parTransId="{CD57FEAD-C662-43AE-9D79-4B7F3DF53BBF}" sibTransId="{09D24643-7877-4A90-A856-C1DC17229456}"/>
    <dgm:cxn modelId="{20E2595C-1E58-43CA-A6E7-45EAF6181242}" type="presOf" srcId="{B75F3A2F-CADA-419A-BFD0-2987EA62ED68}" destId="{E2525BB0-B7C3-4AB5-9451-07382E4CAA20}" srcOrd="0" destOrd="0" presId="urn:microsoft.com/office/officeart/2005/8/layout/vList2"/>
    <dgm:cxn modelId="{C16C5344-8D51-4451-838E-F21575D60808}" srcId="{96719A41-7F9D-4654-B8DB-4EE4B1554AC7}" destId="{8447164E-B893-469C-8E3F-355ED691CA69}" srcOrd="0" destOrd="0" parTransId="{00D27CB7-34A6-4C55-ABAB-8F58C95F8ECA}" sibTransId="{FE8E3C1E-393B-47B4-8398-13B518B7F82D}"/>
    <dgm:cxn modelId="{B65EF567-CD7E-4F49-BA95-3529957764A2}" srcId="{DB0E71F5-E3F6-4179-804B-705873078CAF}" destId="{D75A1D3F-DC91-4CBE-9CD9-F889D1E51CFE}" srcOrd="2" destOrd="0" parTransId="{67BC7E3F-D28F-46A2-9F50-6543EFC5EEE8}" sibTransId="{5D135BAD-D369-4269-AA99-D7E33994DCEC}"/>
    <dgm:cxn modelId="{96C15B4D-47AF-4886-B2A2-FD632D46A74C}" srcId="{DB0E71F5-E3F6-4179-804B-705873078CAF}" destId="{7706B795-401F-4A62-92B6-EA82924AC474}" srcOrd="0" destOrd="0" parTransId="{8261A708-C8B2-4C5F-A611-CFC3017538DD}" sibTransId="{09B75FD2-3D70-48BE-B892-F315F8145856}"/>
    <dgm:cxn modelId="{87E1F851-9569-4670-83D0-D13E096C82C6}" srcId="{75CC75BD-5062-44CA-B8C7-0CE39CBDF5DD}" destId="{40B24EA6-FBBE-4A04-A22A-8BD7D36C113E}" srcOrd="0" destOrd="0" parTransId="{35F93B60-3A17-4083-A9AC-EAEB2F12EED4}" sibTransId="{B6890AB6-D8D9-4ED1-A94A-A5A640D79041}"/>
    <dgm:cxn modelId="{EE589874-89BF-4563-ADF6-C006DD62C5F2}" srcId="{7706B795-401F-4A62-92B6-EA82924AC474}" destId="{63405E91-F94B-4760-ABC9-126EF2E1456C}" srcOrd="0" destOrd="0" parTransId="{1B91CE8C-B89C-42C1-9104-842D996775AE}" sibTransId="{69D1D6DD-982D-4A52-8FE4-0EB587FA9F61}"/>
    <dgm:cxn modelId="{8297E554-3B19-4349-9EB6-1E9B49575FB5}" srcId="{79A49DDC-4A18-49B5-87F4-B5B8C03F93CB}" destId="{B75F3A2F-CADA-419A-BFD0-2987EA62ED68}" srcOrd="0" destOrd="0" parTransId="{F0028D17-0CC9-4B0F-82D0-0A80B02002A6}" sibTransId="{D9E3F2AF-9E14-45C8-92A4-9FC6B3067805}"/>
    <dgm:cxn modelId="{6713C275-E80E-4CB0-91CE-5E43E08681E3}" srcId="{96719A41-7F9D-4654-B8DB-4EE4B1554AC7}" destId="{76F8B63F-33C7-473D-9295-95E24D3151EC}" srcOrd="1" destOrd="0" parTransId="{C57259B5-C969-45AF-B4CB-19F43A428EF3}" sibTransId="{98B345F4-CCAC-4AC9-A64A-8A73D4813B4D}"/>
    <dgm:cxn modelId="{FF65937F-859B-4674-A996-3F145281B256}" srcId="{DB0E71F5-E3F6-4179-804B-705873078CAF}" destId="{96719A41-7F9D-4654-B8DB-4EE4B1554AC7}" srcOrd="1" destOrd="0" parTransId="{45E63D93-8C8C-4262-A1E7-372E2059F28C}" sibTransId="{7286095D-9C8C-4485-A511-03C747A90232}"/>
    <dgm:cxn modelId="{38E16988-53BB-4314-8D94-2131474B9A1F}" type="presOf" srcId="{45B76CB5-ED75-4494-BC77-FCF81BBD541E}" destId="{86032F57-E0D3-42F9-B62C-FAB261CC4294}" srcOrd="0" destOrd="0" presId="urn:microsoft.com/office/officeart/2005/8/layout/vList2"/>
    <dgm:cxn modelId="{25DBFB93-9F52-40F5-ACD7-45FA6BBC6AD8}" type="presOf" srcId="{75CC75BD-5062-44CA-B8C7-0CE39CBDF5DD}" destId="{CA8A909C-6E43-41EF-8010-6E76EEFF5358}" srcOrd="0" destOrd="0" presId="urn:microsoft.com/office/officeart/2005/8/layout/vList2"/>
    <dgm:cxn modelId="{BE5BD39D-3D03-4DD4-897D-12E194014497}" srcId="{7706B795-401F-4A62-92B6-EA82924AC474}" destId="{2D28C75B-EA33-4088-95A5-E3EFFE53F853}" srcOrd="1" destOrd="0" parTransId="{E15566C3-6B37-4291-A7D2-94E456C2791F}" sibTransId="{1FB18415-B918-49A8-9F85-E97D2CADDACD}"/>
    <dgm:cxn modelId="{7BBC4BB8-D973-4C83-B8A5-634D0E85BF1D}" type="presOf" srcId="{63405E91-F94B-4760-ABC9-126EF2E1456C}" destId="{A5B3670E-C682-46A1-9ED0-974875F05770}" srcOrd="0" destOrd="0" presId="urn:microsoft.com/office/officeart/2005/8/layout/vList2"/>
    <dgm:cxn modelId="{A8ABA0BB-8816-47F5-80E2-FBC5E5090F34}" type="presOf" srcId="{7706B795-401F-4A62-92B6-EA82924AC474}" destId="{E4CA5964-DF2A-4AF0-8850-F36CC535DA0E}" srcOrd="0" destOrd="0" presId="urn:microsoft.com/office/officeart/2005/8/layout/vList2"/>
    <dgm:cxn modelId="{63764BC0-6B88-499E-9C70-A7408FF60EC6}" type="presOf" srcId="{40B24EA6-FBBE-4A04-A22A-8BD7D36C113E}" destId="{839D4397-BE92-4624-B59C-6D966864DF50}" srcOrd="0" destOrd="0" presId="urn:microsoft.com/office/officeart/2005/8/layout/vList2"/>
    <dgm:cxn modelId="{1A5698C4-21D6-4FF0-A47B-3F1EBEAAA3E0}" srcId="{D75A1D3F-DC91-4CBE-9CD9-F889D1E51CFE}" destId="{3BA0097B-96CA-4FBD-80BE-57DC1EB9DD9A}" srcOrd="0" destOrd="0" parTransId="{04CD9616-73E7-4FE9-9F69-BCF69BF94F82}" sibTransId="{E00D6D02-6083-4313-ABB6-1AD37D548638}"/>
    <dgm:cxn modelId="{2C5B69D3-9481-450A-84DC-FA99304315AF}" srcId="{DB0E71F5-E3F6-4179-804B-705873078CAF}" destId="{75CC75BD-5062-44CA-B8C7-0CE39CBDF5DD}" srcOrd="4" destOrd="0" parTransId="{2857581C-B16F-4AD7-A2AC-D4AB2D960F02}" sibTransId="{9308DBF6-0916-4448-9212-E7334C49F9EE}"/>
    <dgm:cxn modelId="{75AEAED6-F80C-4B4F-B4A6-0CC2B938FBDA}" type="presOf" srcId="{2D28C75B-EA33-4088-95A5-E3EFFE53F853}" destId="{A5B3670E-C682-46A1-9ED0-974875F05770}" srcOrd="0" destOrd="1" presId="urn:microsoft.com/office/officeart/2005/8/layout/vList2"/>
    <dgm:cxn modelId="{2DDB74DA-26DE-4C91-8525-5F1099DD4240}" type="presOf" srcId="{5F443B67-51D8-40BE-A3F2-AF952C27E1FC}" destId="{6824CA66-0DA9-4363-861F-267A35B1F9A5}" srcOrd="0" destOrd="0" presId="urn:microsoft.com/office/officeart/2005/8/layout/vList2"/>
    <dgm:cxn modelId="{72B153F4-C076-4599-B550-F4B582D1B42D}" srcId="{DB0E71F5-E3F6-4179-804B-705873078CAF}" destId="{79A49DDC-4A18-49B5-87F4-B5B8C03F93CB}" srcOrd="5" destOrd="0" parTransId="{D0AA1E7A-11F5-4D57-80FA-7EF65EBB4A5F}" sibTransId="{EE9AEF13-B29B-4B8C-B497-6556E0B9B912}"/>
    <dgm:cxn modelId="{0424CEFB-4F63-43A3-9C65-2B0DF216B267}" type="presOf" srcId="{3BA0097B-96CA-4FBD-80BE-57DC1EB9DD9A}" destId="{8BE243F2-F25F-47F6-A11D-73987DEE1FA1}" srcOrd="0" destOrd="0" presId="urn:microsoft.com/office/officeart/2005/8/layout/vList2"/>
    <dgm:cxn modelId="{04FFD014-6C22-4EA9-AA43-4ACCD6C2EA44}" type="presParOf" srcId="{F011A15E-0379-41FC-B916-CE70BCF7BF0F}" destId="{E4CA5964-DF2A-4AF0-8850-F36CC535DA0E}" srcOrd="0" destOrd="0" presId="urn:microsoft.com/office/officeart/2005/8/layout/vList2"/>
    <dgm:cxn modelId="{A2C2EEE7-10EA-4BDF-80EE-BF53D6C051C0}" type="presParOf" srcId="{F011A15E-0379-41FC-B916-CE70BCF7BF0F}" destId="{A5B3670E-C682-46A1-9ED0-974875F05770}" srcOrd="1" destOrd="0" presId="urn:microsoft.com/office/officeart/2005/8/layout/vList2"/>
    <dgm:cxn modelId="{80726BC7-E481-4F24-8841-BD8933D3006D}" type="presParOf" srcId="{F011A15E-0379-41FC-B916-CE70BCF7BF0F}" destId="{218784A4-81BC-41A1-A918-4EC121D95F3A}" srcOrd="2" destOrd="0" presId="urn:microsoft.com/office/officeart/2005/8/layout/vList2"/>
    <dgm:cxn modelId="{CDB64D36-CB8D-49E3-91B3-A897C983CDB7}" type="presParOf" srcId="{F011A15E-0379-41FC-B916-CE70BCF7BF0F}" destId="{614FEFCF-73EF-4636-A274-0C37940F12A5}" srcOrd="3" destOrd="0" presId="urn:microsoft.com/office/officeart/2005/8/layout/vList2"/>
    <dgm:cxn modelId="{DDEE2AF3-0C19-4AAB-AF8B-C6B4B1BC5EBF}" type="presParOf" srcId="{F011A15E-0379-41FC-B916-CE70BCF7BF0F}" destId="{14D5F2E2-2191-4E87-AE75-8CAE9826DF3A}" srcOrd="4" destOrd="0" presId="urn:microsoft.com/office/officeart/2005/8/layout/vList2"/>
    <dgm:cxn modelId="{007EBE58-2613-4FDF-851A-909DE35A66EA}" type="presParOf" srcId="{F011A15E-0379-41FC-B916-CE70BCF7BF0F}" destId="{8BE243F2-F25F-47F6-A11D-73987DEE1FA1}" srcOrd="5" destOrd="0" presId="urn:microsoft.com/office/officeart/2005/8/layout/vList2"/>
    <dgm:cxn modelId="{EB821B77-64A6-4A2F-9ADE-0ADDA311DCB6}" type="presParOf" srcId="{F011A15E-0379-41FC-B916-CE70BCF7BF0F}" destId="{6824CA66-0DA9-4363-861F-267A35B1F9A5}" srcOrd="6" destOrd="0" presId="urn:microsoft.com/office/officeart/2005/8/layout/vList2"/>
    <dgm:cxn modelId="{5DE49C8E-ACE7-42C2-B222-6ACEEC15DE3A}" type="presParOf" srcId="{F011A15E-0379-41FC-B916-CE70BCF7BF0F}" destId="{86032F57-E0D3-42F9-B62C-FAB261CC4294}" srcOrd="7" destOrd="0" presId="urn:microsoft.com/office/officeart/2005/8/layout/vList2"/>
    <dgm:cxn modelId="{1B625D0A-903D-4C96-B3EB-2649B6F34AB5}" type="presParOf" srcId="{F011A15E-0379-41FC-B916-CE70BCF7BF0F}" destId="{CA8A909C-6E43-41EF-8010-6E76EEFF5358}" srcOrd="8" destOrd="0" presId="urn:microsoft.com/office/officeart/2005/8/layout/vList2"/>
    <dgm:cxn modelId="{3E361660-F8DC-4A78-BAB7-A11C1FA1B815}" type="presParOf" srcId="{F011A15E-0379-41FC-B916-CE70BCF7BF0F}" destId="{839D4397-BE92-4624-B59C-6D966864DF50}" srcOrd="9" destOrd="0" presId="urn:microsoft.com/office/officeart/2005/8/layout/vList2"/>
    <dgm:cxn modelId="{FC458E40-7F5C-4AF2-94B6-D64E047AA7EC}" type="presParOf" srcId="{F011A15E-0379-41FC-B916-CE70BCF7BF0F}" destId="{7DE75196-F7E5-4012-981C-8C7EF041E2A3}" srcOrd="10" destOrd="0" presId="urn:microsoft.com/office/officeart/2005/8/layout/vList2"/>
    <dgm:cxn modelId="{52E19160-20D2-4209-B017-A1CEA081E0E9}" type="presParOf" srcId="{F011A15E-0379-41FC-B916-CE70BCF7BF0F}" destId="{E2525BB0-B7C3-4AB5-9451-07382E4CAA20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F95DB1-ED6D-43AB-98BC-89A5D7FEF4D4}">
      <dsp:nvSpPr>
        <dsp:cNvPr id="0" name=""/>
        <dsp:cNvSpPr/>
      </dsp:nvSpPr>
      <dsp:spPr>
        <a:xfrm>
          <a:off x="4234" y="53224"/>
          <a:ext cx="1225825" cy="1225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D5DC6-1074-4384-B770-7363885B8F70}">
      <dsp:nvSpPr>
        <dsp:cNvPr id="0" name=""/>
        <dsp:cNvSpPr/>
      </dsp:nvSpPr>
      <dsp:spPr>
        <a:xfrm>
          <a:off x="4234" y="1433357"/>
          <a:ext cx="3502357" cy="123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 dirty="0"/>
            <a:t>Power Query: </a:t>
          </a:r>
          <a:r>
            <a:rPr lang="en-US" sz="1400" kern="1200" dirty="0"/>
            <a:t>Used to clean and prepare the data by removing or imputing missing values.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Creating new features such as "Length of Stay" for deeper analysis.</a:t>
          </a:r>
        </a:p>
      </dsp:txBody>
      <dsp:txXfrm>
        <a:off x="4234" y="1433357"/>
        <a:ext cx="3502357" cy="1233984"/>
      </dsp:txXfrm>
    </dsp:sp>
    <dsp:sp modelId="{E21D5B5B-2910-4921-AC32-F5A4DEB96B0F}">
      <dsp:nvSpPr>
        <dsp:cNvPr id="0" name=""/>
        <dsp:cNvSpPr/>
      </dsp:nvSpPr>
      <dsp:spPr>
        <a:xfrm>
          <a:off x="117360" y="2287610"/>
          <a:ext cx="3502357" cy="90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 dirty="0"/>
        </a:p>
      </dsp:txBody>
      <dsp:txXfrm>
        <a:off x="117360" y="2287610"/>
        <a:ext cx="3502357" cy="902682"/>
      </dsp:txXfrm>
    </dsp:sp>
    <dsp:sp modelId="{2A06E088-D701-485C-B54C-05E58B54C273}">
      <dsp:nvSpPr>
        <dsp:cNvPr id="0" name=""/>
        <dsp:cNvSpPr/>
      </dsp:nvSpPr>
      <dsp:spPr>
        <a:xfrm>
          <a:off x="4119504" y="53224"/>
          <a:ext cx="1225825" cy="1225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03D26-D592-4A71-B2F7-B1D1C3E324BE}">
      <dsp:nvSpPr>
        <dsp:cNvPr id="0" name=""/>
        <dsp:cNvSpPr/>
      </dsp:nvSpPr>
      <dsp:spPr>
        <a:xfrm>
          <a:off x="4119504" y="1433357"/>
          <a:ext cx="3502357" cy="123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 dirty="0"/>
            <a:t>Power Pivot</a:t>
          </a:r>
          <a:r>
            <a:rPr lang="en-US" sz="1800" kern="1200" dirty="0"/>
            <a:t>: </a:t>
          </a:r>
          <a:r>
            <a:rPr lang="en-US" sz="1500" kern="1200" dirty="0"/>
            <a:t>After cleaning, the datasets were connected using Power Pivot, establishing relationships between the files to create a unified dataset for analysis and dashboards.</a:t>
          </a:r>
        </a:p>
      </dsp:txBody>
      <dsp:txXfrm>
        <a:off x="4119504" y="1433357"/>
        <a:ext cx="3502357" cy="1233984"/>
      </dsp:txXfrm>
    </dsp:sp>
    <dsp:sp modelId="{AE72A596-F59C-4185-A850-4AE0A9C89ABD}">
      <dsp:nvSpPr>
        <dsp:cNvPr id="0" name=""/>
        <dsp:cNvSpPr/>
      </dsp:nvSpPr>
      <dsp:spPr>
        <a:xfrm>
          <a:off x="4119504" y="2739113"/>
          <a:ext cx="3502357" cy="90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CA5964-DF2A-4AF0-8850-F36CC535DA0E}">
      <dsp:nvSpPr>
        <dsp:cNvPr id="0" name=""/>
        <dsp:cNvSpPr/>
      </dsp:nvSpPr>
      <dsp:spPr>
        <a:xfrm>
          <a:off x="0" y="1355"/>
          <a:ext cx="78867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Inconsistent Data Entry</a:t>
          </a:r>
          <a:r>
            <a:rPr lang="en-US" sz="1500" kern="1200" dirty="0"/>
            <a:t>:</a:t>
          </a:r>
        </a:p>
      </dsp:txBody>
      <dsp:txXfrm>
        <a:off x="17563" y="18918"/>
        <a:ext cx="7851574" cy="324648"/>
      </dsp:txXfrm>
    </dsp:sp>
    <dsp:sp modelId="{A5B3670E-C682-46A1-9ED0-974875F05770}">
      <dsp:nvSpPr>
        <dsp:cNvPr id="0" name=""/>
        <dsp:cNvSpPr/>
      </dsp:nvSpPr>
      <dsp:spPr>
        <a:xfrm>
          <a:off x="0" y="361130"/>
          <a:ext cx="7886700" cy="473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/>
            <a:t>Gender column</a:t>
          </a:r>
          <a:r>
            <a:rPr lang="en-US" sz="1400" kern="1200"/>
            <a:t>: Some entries used inconsistent labels ( 'M', 'Male', 'F', 'female').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/>
            <a:t>Test Results</a:t>
          </a:r>
          <a:r>
            <a:rPr lang="en-US" sz="1400" kern="1200"/>
            <a:t>: Variations in text formatting (e.g., 'normal' vs 'Normal', 'positive' vs 'Positive').</a:t>
          </a:r>
          <a:endParaRPr lang="en-US" sz="1400" kern="1200" dirty="0"/>
        </a:p>
      </dsp:txBody>
      <dsp:txXfrm>
        <a:off x="0" y="361130"/>
        <a:ext cx="7886700" cy="473512"/>
      </dsp:txXfrm>
    </dsp:sp>
    <dsp:sp modelId="{218784A4-81BC-41A1-A918-4EC121D95F3A}">
      <dsp:nvSpPr>
        <dsp:cNvPr id="0" name=""/>
        <dsp:cNvSpPr/>
      </dsp:nvSpPr>
      <dsp:spPr>
        <a:xfrm>
          <a:off x="0" y="834642"/>
          <a:ext cx="78867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Missing Values</a:t>
          </a:r>
          <a:r>
            <a:rPr lang="en-US" sz="1500" kern="1200" dirty="0"/>
            <a:t>:</a:t>
          </a:r>
        </a:p>
      </dsp:txBody>
      <dsp:txXfrm>
        <a:off x="17563" y="852205"/>
        <a:ext cx="7851574" cy="324648"/>
      </dsp:txXfrm>
    </dsp:sp>
    <dsp:sp modelId="{614FEFCF-73EF-4636-A274-0C37940F12A5}">
      <dsp:nvSpPr>
        <dsp:cNvPr id="0" name=""/>
        <dsp:cNvSpPr/>
      </dsp:nvSpPr>
      <dsp:spPr>
        <a:xfrm>
          <a:off x="0" y="1194417"/>
          <a:ext cx="7886700" cy="473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/>
            <a:t>Doctor ID</a:t>
          </a:r>
          <a:r>
            <a:rPr lang="en-US" sz="1400" kern="1200"/>
            <a:t>: Several records were missing Doctor IDs, making it difficult to analyze data by doctor.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/>
            <a:t>Medical Conditions</a:t>
          </a:r>
          <a:r>
            <a:rPr lang="en-US" sz="1400" kern="1200"/>
            <a:t>: Some entries lacked medical condition details, leading to incomplete records.</a:t>
          </a:r>
          <a:endParaRPr lang="en-US" sz="1400" kern="1200" dirty="0"/>
        </a:p>
      </dsp:txBody>
      <dsp:txXfrm>
        <a:off x="0" y="1194417"/>
        <a:ext cx="7886700" cy="473512"/>
      </dsp:txXfrm>
    </dsp:sp>
    <dsp:sp modelId="{14D5F2E2-2191-4E87-AE75-8CAE9826DF3A}">
      <dsp:nvSpPr>
        <dsp:cNvPr id="0" name=""/>
        <dsp:cNvSpPr/>
      </dsp:nvSpPr>
      <dsp:spPr>
        <a:xfrm>
          <a:off x="0" y="1667930"/>
          <a:ext cx="78867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Duplicate Records</a:t>
          </a:r>
          <a:r>
            <a:rPr lang="en-US" sz="1500" kern="1200"/>
            <a:t>:</a:t>
          </a:r>
        </a:p>
      </dsp:txBody>
      <dsp:txXfrm>
        <a:off x="17563" y="1685493"/>
        <a:ext cx="7851574" cy="324648"/>
      </dsp:txXfrm>
    </dsp:sp>
    <dsp:sp modelId="{8BE243F2-F25F-47F6-A11D-73987DEE1FA1}">
      <dsp:nvSpPr>
        <dsp:cNvPr id="0" name=""/>
        <dsp:cNvSpPr/>
      </dsp:nvSpPr>
      <dsp:spPr>
        <a:xfrm>
          <a:off x="0" y="2027705"/>
          <a:ext cx="7886700" cy="426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Multiple entries for the same patient (same ID) were found, resulting in potential double-counting of certain cases.</a:t>
          </a:r>
          <a:endParaRPr lang="en-US" sz="1400" kern="1200" dirty="0"/>
        </a:p>
      </dsp:txBody>
      <dsp:txXfrm>
        <a:off x="0" y="2027705"/>
        <a:ext cx="7886700" cy="426937"/>
      </dsp:txXfrm>
    </dsp:sp>
    <dsp:sp modelId="{6824CA66-0DA9-4363-861F-267A35B1F9A5}">
      <dsp:nvSpPr>
        <dsp:cNvPr id="0" name=""/>
        <dsp:cNvSpPr/>
      </dsp:nvSpPr>
      <dsp:spPr>
        <a:xfrm>
          <a:off x="0" y="2454642"/>
          <a:ext cx="78867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Inconsistent Date Formats</a:t>
          </a:r>
          <a:r>
            <a:rPr lang="en-US" sz="1500" kern="1200" dirty="0"/>
            <a:t>:</a:t>
          </a:r>
        </a:p>
      </dsp:txBody>
      <dsp:txXfrm>
        <a:off x="17563" y="2472205"/>
        <a:ext cx="7851574" cy="324648"/>
      </dsp:txXfrm>
    </dsp:sp>
    <dsp:sp modelId="{86032F57-E0D3-42F9-B62C-FAB261CC4294}">
      <dsp:nvSpPr>
        <dsp:cNvPr id="0" name=""/>
        <dsp:cNvSpPr/>
      </dsp:nvSpPr>
      <dsp:spPr>
        <a:xfrm>
          <a:off x="0" y="2814417"/>
          <a:ext cx="7886700" cy="426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Date entries were inconsistent, with some in 'DD-MM-YYYY' format and others in 'MM/DD/YYYY' format, making time-based analysis difficult.</a:t>
          </a:r>
          <a:endParaRPr lang="en-US" sz="1400" kern="1200" dirty="0"/>
        </a:p>
      </dsp:txBody>
      <dsp:txXfrm>
        <a:off x="0" y="2814417"/>
        <a:ext cx="7886700" cy="426937"/>
      </dsp:txXfrm>
    </dsp:sp>
    <dsp:sp modelId="{CA8A909C-6E43-41EF-8010-6E76EEFF5358}">
      <dsp:nvSpPr>
        <dsp:cNvPr id="0" name=""/>
        <dsp:cNvSpPr/>
      </dsp:nvSpPr>
      <dsp:spPr>
        <a:xfrm>
          <a:off x="0" y="3241355"/>
          <a:ext cx="78867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Invalid Categorical Values</a:t>
          </a:r>
          <a:r>
            <a:rPr lang="en-US" sz="1500" kern="1200"/>
            <a:t>:</a:t>
          </a:r>
        </a:p>
      </dsp:txBody>
      <dsp:txXfrm>
        <a:off x="17563" y="3258918"/>
        <a:ext cx="7851574" cy="324648"/>
      </dsp:txXfrm>
    </dsp:sp>
    <dsp:sp modelId="{839D4397-BE92-4624-B59C-6D966864DF50}">
      <dsp:nvSpPr>
        <dsp:cNvPr id="0" name=""/>
        <dsp:cNvSpPr/>
      </dsp:nvSpPr>
      <dsp:spPr>
        <a:xfrm>
          <a:off x="0" y="3601130"/>
          <a:ext cx="7886700" cy="426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Certain categorical columns had invalid values, such as a </a:t>
          </a:r>
          <a:r>
            <a:rPr lang="en-US" sz="1400" b="1" kern="1200"/>
            <a:t>Gender</a:t>
          </a:r>
          <a:r>
            <a:rPr lang="en-US" sz="1400" kern="1200"/>
            <a:t> entry marked as 'Unknown' or non-sensical entries like 'N/A' in diagnosis columns.</a:t>
          </a:r>
          <a:endParaRPr lang="en-US" sz="1400" kern="1200" dirty="0"/>
        </a:p>
      </dsp:txBody>
      <dsp:txXfrm>
        <a:off x="0" y="3601130"/>
        <a:ext cx="7886700" cy="426937"/>
      </dsp:txXfrm>
    </dsp:sp>
    <dsp:sp modelId="{7DE75196-F7E5-4012-981C-8C7EF041E2A3}">
      <dsp:nvSpPr>
        <dsp:cNvPr id="0" name=""/>
        <dsp:cNvSpPr/>
      </dsp:nvSpPr>
      <dsp:spPr>
        <a:xfrm>
          <a:off x="0" y="4028068"/>
          <a:ext cx="78867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Mixed Data Types</a:t>
          </a:r>
          <a:r>
            <a:rPr lang="en-US" sz="1500" kern="1200"/>
            <a:t>:</a:t>
          </a:r>
        </a:p>
      </dsp:txBody>
      <dsp:txXfrm>
        <a:off x="17563" y="4045631"/>
        <a:ext cx="7851574" cy="324648"/>
      </dsp:txXfrm>
    </dsp:sp>
    <dsp:sp modelId="{E2525BB0-B7C3-4AB5-9451-07382E4CAA20}">
      <dsp:nvSpPr>
        <dsp:cNvPr id="0" name=""/>
        <dsp:cNvSpPr/>
      </dsp:nvSpPr>
      <dsp:spPr>
        <a:xfrm>
          <a:off x="0" y="4387843"/>
          <a:ext cx="7886700" cy="426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Some numerical fields were stored as text (Doctor IDs, Age), causing issues in data analysis and calculations.</a:t>
          </a:r>
          <a:endParaRPr lang="en-US" sz="1400" kern="1200" dirty="0"/>
        </a:p>
      </dsp:txBody>
      <dsp:txXfrm>
        <a:off x="0" y="4387843"/>
        <a:ext cx="7886700" cy="426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2188" y="714621"/>
            <a:ext cx="2583875" cy="3901454"/>
          </a:xfrm>
        </p:spPr>
        <p:txBody>
          <a:bodyPr anchor="t">
            <a:normAutofit/>
          </a:bodyPr>
          <a:lstStyle/>
          <a:p>
            <a:pPr algn="l"/>
            <a:r>
              <a:rPr lang="en-US" sz="3200" b="1"/>
              <a:t>Medical Presentation</a:t>
            </a:r>
            <a:endParaRPr lang="en-US" sz="3200" b="1" dirty="0"/>
          </a:p>
        </p:txBody>
      </p:sp>
      <p:pic>
        <p:nvPicPr>
          <p:cNvPr id="4" name="Picture 3" descr="A doctor wearing a stethoscope and a watch&#10;&#10;Description automatically generated">
            <a:extLst>
              <a:ext uri="{FF2B5EF4-FFF2-40B4-BE49-F238E27FC236}">
                <a16:creationId xmlns:a16="http://schemas.microsoft.com/office/drawing/2014/main" id="{9C41EDF0-ACA3-6256-63E0-CE911A3ECF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16" r="23276" b="-1"/>
          <a:stretch/>
        </p:blipFill>
        <p:spPr>
          <a:xfrm>
            <a:off x="20" y="-3"/>
            <a:ext cx="5682322" cy="685799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193FD5-6A49-7562-EA76-F15D42E15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49542" y="5181888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AE20B5C-9F26-E6BD-910E-7EDB4B45CA66}"/>
              </a:ext>
            </a:extLst>
          </p:cNvPr>
          <p:cNvSpPr txBox="1"/>
          <p:nvPr/>
        </p:nvSpPr>
        <p:spPr>
          <a:xfrm>
            <a:off x="5987347" y="3975652"/>
            <a:ext cx="2261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Medical Data Cleaning and Dashboard Analysis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F1FF34-550E-E67B-8E38-F6106EDC9DF7}"/>
              </a:ext>
            </a:extLst>
          </p:cNvPr>
          <p:cNvSpPr txBox="1"/>
          <p:nvPr/>
        </p:nvSpPr>
        <p:spPr>
          <a:xfrm>
            <a:off x="433633" y="763572"/>
            <a:ext cx="4967926" cy="5177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600" b="1" dirty="0"/>
              <a:t>Agenda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Introduction</a:t>
            </a:r>
            <a:endParaRPr lang="en-US" dirty="0"/>
          </a:p>
          <a:p>
            <a:pPr marL="1200150" lvl="2" indent="-285750">
              <a:buFont typeface="+mj-lt"/>
              <a:buAutoNum type="arabicPeriod"/>
            </a:pPr>
            <a:r>
              <a:rPr lang="en-US" dirty="0"/>
              <a:t>Overview of the project and objectives.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Uncleaned Data Overview</a:t>
            </a:r>
            <a:endParaRPr lang="en-US" dirty="0"/>
          </a:p>
          <a:p>
            <a:pPr marL="1200150" lvl="2" indent="-285750">
              <a:buFont typeface="+mj-lt"/>
              <a:buAutoNum type="arabicPeriod"/>
            </a:pPr>
            <a:r>
              <a:rPr lang="en-US" dirty="0"/>
              <a:t>Issues and challenges with the raw data.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Data Transformation Process</a:t>
            </a:r>
            <a:endParaRPr lang="en-US" dirty="0"/>
          </a:p>
          <a:p>
            <a:pPr marL="1200150" lvl="2" indent="-285750">
              <a:buFont typeface="+mj-lt"/>
              <a:buAutoNum type="arabicPeriod"/>
            </a:pPr>
            <a:r>
              <a:rPr lang="en-US" dirty="0"/>
              <a:t>Cleaning the data using Power Query.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dirty="0"/>
              <a:t>Integrating the datasets with Power Pivot.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Cleaned Data Overview</a:t>
            </a:r>
            <a:endParaRPr lang="en-US" dirty="0"/>
          </a:p>
          <a:p>
            <a:pPr marL="1200150" lvl="2" indent="-285750">
              <a:buFont typeface="+mj-lt"/>
              <a:buAutoNum type="arabicPeriod"/>
            </a:pPr>
            <a:r>
              <a:rPr lang="en-US" dirty="0"/>
              <a:t>Improvements made after transformation.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dirty="0"/>
              <a:t>Key new features and consistency.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Dashboard Insights</a:t>
            </a:r>
            <a:endParaRPr lang="en-US" dirty="0"/>
          </a:p>
          <a:p>
            <a:pPr marL="1200150" lvl="2" indent="-285750">
              <a:buFont typeface="+mj-lt"/>
              <a:buAutoNum type="arabicPeriod"/>
            </a:pPr>
            <a:r>
              <a:rPr lang="en-US" dirty="0"/>
              <a:t>Medical insights from the data.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dirty="0"/>
              <a:t>Financial and sales analysis.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B860BC48-56A2-91C5-86C1-200726ACC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975" y="1880998"/>
            <a:ext cx="3127897" cy="312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499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AD8287-1228-4868-78DE-982B4E0B08B5}"/>
              </a:ext>
            </a:extLst>
          </p:cNvPr>
          <p:cNvSpPr txBox="1"/>
          <p:nvPr/>
        </p:nvSpPr>
        <p:spPr>
          <a:xfrm>
            <a:off x="456416" y="838985"/>
            <a:ext cx="5192267" cy="5062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b="1" dirty="0"/>
              <a:t>Dataset Structure and Integration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The dataset consists of </a:t>
            </a:r>
            <a:r>
              <a:rPr lang="en-US" sz="1500" b="1" dirty="0"/>
              <a:t>three separate files</a:t>
            </a:r>
            <a:r>
              <a:rPr lang="en-US" sz="1500" dirty="0"/>
              <a:t>, each serving a unique purpose in the analysis of healthcare data: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 b="1" dirty="0"/>
              <a:t>1- Healthcare Facts</a:t>
            </a:r>
            <a:endParaRPr lang="en-US" sz="1500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This file contains detailed records of patient encounters, including data such as Blood type, Medical Condition, and Admission Type . It serves as the central fact table for analysis.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 b="1" dirty="0"/>
              <a:t>2- Doctors Dimension</a:t>
            </a:r>
            <a:endParaRPr lang="en-US" sz="1500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This file includes information about the doctors, such as their IDs, names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 b="1" dirty="0"/>
              <a:t>3- Hospitals Dimension</a:t>
            </a:r>
            <a:endParaRPr lang="en-US" sz="1500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This file contains data about the hospitals, including their IDs, names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14E8820E-E3DF-FFB7-BE7A-74073CA14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62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07BD44-5DE0-BAF8-C052-30A2F2943048}"/>
              </a:ext>
            </a:extLst>
          </p:cNvPr>
          <p:cNvSpPr txBox="1"/>
          <p:nvPr/>
        </p:nvSpPr>
        <p:spPr>
          <a:xfrm>
            <a:off x="571500" y="5074024"/>
            <a:ext cx="7581900" cy="598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Overview of Data: Healthcare data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395AE0-8789-FAD6-A987-32E65C185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439025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27368DE-A26B-0190-E92E-B296E0F32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79" y="622169"/>
            <a:ext cx="8389856" cy="3487918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4811517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8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07BD44-5DE0-BAF8-C052-30A2F2943048}"/>
              </a:ext>
            </a:extLst>
          </p:cNvPr>
          <p:cNvSpPr txBox="1"/>
          <p:nvPr/>
        </p:nvSpPr>
        <p:spPr>
          <a:xfrm>
            <a:off x="571500" y="5074024"/>
            <a:ext cx="7581900" cy="598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Overview of Data: Hospitals data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395AE0-8789-FAD6-A987-32E65C185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439025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4811517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633F878-8F97-426F-80F0-FDFBD6CF2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23" y="801278"/>
            <a:ext cx="7898153" cy="298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87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07BD44-5DE0-BAF8-C052-30A2F2943048}"/>
              </a:ext>
            </a:extLst>
          </p:cNvPr>
          <p:cNvSpPr txBox="1"/>
          <p:nvPr/>
        </p:nvSpPr>
        <p:spPr>
          <a:xfrm>
            <a:off x="571500" y="5074024"/>
            <a:ext cx="7581900" cy="598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Overview of Data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395AE0-8789-FAD6-A987-32E65C185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439025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4811517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table&#10;&#10;Description automatically generated">
            <a:extLst>
              <a:ext uri="{FF2B5EF4-FFF2-40B4-BE49-F238E27FC236}">
                <a16:creationId xmlns:a16="http://schemas.microsoft.com/office/drawing/2014/main" id="{87496EC7-76AE-7470-A432-0314AC6D8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971" y="452487"/>
            <a:ext cx="5618375" cy="371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89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8953F-4803-9713-BB5C-15A4C3602E86}"/>
              </a:ext>
            </a:extLst>
          </p:cNvPr>
          <p:cNvSpPr txBox="1"/>
          <p:nvPr/>
        </p:nvSpPr>
        <p:spPr>
          <a:xfrm>
            <a:off x="688157" y="914399"/>
            <a:ext cx="620283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800" b="1"/>
              <a:t>Data Transformation and Integration:</a:t>
            </a:r>
            <a:endParaRPr lang="en-US" sz="2800" b="1" dirty="0"/>
          </a:p>
        </p:txBody>
      </p:sp>
      <p:graphicFrame>
        <p:nvGraphicFramePr>
          <p:cNvPr id="24" name="TextBox 2">
            <a:extLst>
              <a:ext uri="{FF2B5EF4-FFF2-40B4-BE49-F238E27FC236}">
                <a16:creationId xmlns:a16="http://schemas.microsoft.com/office/drawing/2014/main" id="{75A8CF06-E38A-17A2-9188-3DFB1B01D6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4910278"/>
              </p:ext>
            </p:extLst>
          </p:nvPr>
        </p:nvGraphicFramePr>
        <p:xfrm>
          <a:off x="836676" y="2481943"/>
          <a:ext cx="7626096" cy="3695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1600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242DBCAF-FC35-3A76-B791-251ACA0AF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3379172"/>
              </p:ext>
            </p:extLst>
          </p:nvPr>
        </p:nvGraphicFramePr>
        <p:xfrm>
          <a:off x="628650" y="1858041"/>
          <a:ext cx="7886700" cy="4816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313E4A2-6E42-A4E3-44C8-BA4D19345EF9}"/>
              </a:ext>
            </a:extLst>
          </p:cNvPr>
          <p:cNvSpPr txBox="1"/>
          <p:nvPr/>
        </p:nvSpPr>
        <p:spPr>
          <a:xfrm>
            <a:off x="628650" y="605855"/>
            <a:ext cx="80135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b="1"/>
              <a:t>The uncleaned data presented several challenges that needed to be addressed to ensure its quality and consistency:</a:t>
            </a:r>
            <a:endParaRPr lang="en-US" sz="2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886D77-7D2D-45D8-6740-3E9EE50C9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611984"/>
            <a:ext cx="4502183" cy="43289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Primary Key for Each Patient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A unique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Patient 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was created for each individual in the dataset. This primary key ensures that each patient record is uniquely identifiable, allowing for easier data management and analysis.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Merging First Name and Last 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The first name and last name fields were merged to create a new field called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Full 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. This consolidation simplifies the data presentation and allows for more intuitive identification of patients in reports and dashboards.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0007A63B-E82A-B09C-8F9C-9911C5757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927" y="909081"/>
            <a:ext cx="2813993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226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10F06-77B1-65AB-7D89-18BF1293756F}"/>
              </a:ext>
            </a:extLst>
          </p:cNvPr>
          <p:cNvSpPr txBox="1"/>
          <p:nvPr/>
        </p:nvSpPr>
        <p:spPr>
          <a:xfrm>
            <a:off x="414780" y="1102936"/>
            <a:ext cx="4430304" cy="48380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/>
              <a:t>To enhance the dataset's analytical capabilities, we added several new columns: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Length of Stay</a:t>
            </a:r>
            <a:r>
              <a:rPr lang="en-US" sz="1400"/>
              <a:t>: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Represents the duration of hospitalization for each patient.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Date of Admission (Year)</a:t>
            </a:r>
            <a:r>
              <a:rPr lang="en-US" sz="1400"/>
              <a:t>: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Extracted year of admission for better temporal analysis.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Date of Admission (Quarter)</a:t>
            </a:r>
            <a:r>
              <a:rPr lang="en-US" sz="1400"/>
              <a:t>: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Categorizes admissions into quarters of the year (Q1, Q2, Q3, Q4).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Date of Admission (Month Index)</a:t>
            </a:r>
            <a:r>
              <a:rPr lang="en-US" sz="1400"/>
              <a:t>: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Numeric representation of the admission month for easier sorting and analysis.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Date of Admission (Month)</a:t>
            </a:r>
            <a:r>
              <a:rPr lang="en-US" sz="1400"/>
              <a:t>: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Full name of the month for clearer reporting.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These enhancements allow for more detailed analysis and improved reporting capabilities within the dataset.</a:t>
            </a:r>
            <a:endParaRPr lang="en-US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2BCAD6D-93BC-7554-4158-91DB35CAF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487" y="2073897"/>
            <a:ext cx="3965150" cy="229071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E886D77-7D2D-45D8-6740-3E9EE50C9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241" y="3536790"/>
            <a:ext cx="4430304" cy="29055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23831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39EFCB6-34FA-CD78-0E8F-CA544AEA8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83" y="822589"/>
            <a:ext cx="7248635" cy="24645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3DB5AD-4453-ADA4-831B-6FE816D5DCE1}"/>
              </a:ext>
            </a:extLst>
          </p:cNvPr>
          <p:cNvSpPr txBox="1"/>
          <p:nvPr/>
        </p:nvSpPr>
        <p:spPr>
          <a:xfrm>
            <a:off x="947684" y="3846136"/>
            <a:ext cx="72486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 connected these three files using </a:t>
            </a:r>
            <a:r>
              <a:rPr lang="en-US" b="1" dirty="0"/>
              <a:t>Power Pivot</a:t>
            </a:r>
            <a:r>
              <a:rPr lang="en-US" dirty="0"/>
              <a:t> to establish relationships between the fact and dimension tables. This integration allows for comprehensive data analysis and enables the creation of insightful dashboards and reports.</a:t>
            </a:r>
          </a:p>
        </p:txBody>
      </p:sp>
    </p:spTree>
    <p:extLst>
      <p:ext uri="{BB962C8B-B14F-4D97-AF65-F5344CB8AC3E}">
        <p14:creationId xmlns:p14="http://schemas.microsoft.com/office/powerpoint/2010/main" val="3793659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682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D5A5EA4B-BC61-9BC1-9AE7-CAD8A951D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08266"/>
            <a:ext cx="8178799" cy="464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25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C4C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E17A99D-EACB-A0ED-2373-E94D2325A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537653"/>
            <a:ext cx="8178799" cy="37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68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28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medical report&#10;&#10;Description automatically generated">
            <a:extLst>
              <a:ext uri="{FF2B5EF4-FFF2-40B4-BE49-F238E27FC236}">
                <a16:creationId xmlns:a16="http://schemas.microsoft.com/office/drawing/2014/main" id="{6C1B661C-6274-190E-7EE8-79CC84CDA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578546"/>
            <a:ext cx="8178799" cy="370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01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08D016-F12A-491A-AFB2-63773ABDB815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685</Words>
  <Application>Microsoft Office PowerPoint</Application>
  <PresentationFormat>On-screen Show (4:3)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Office Theme</vt:lpstr>
      <vt:lpstr>Medical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سعيد علاء المتولي الغرباوي</cp:lastModifiedBy>
  <cp:revision>4</cp:revision>
  <dcterms:created xsi:type="dcterms:W3CDTF">2013-01-27T09:14:16Z</dcterms:created>
  <dcterms:modified xsi:type="dcterms:W3CDTF">2024-10-12T12:51:16Z</dcterms:modified>
  <cp:category/>
</cp:coreProperties>
</file>